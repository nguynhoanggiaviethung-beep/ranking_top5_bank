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34127be7d45dd" /><Relationship Type="http://schemas.openxmlformats.org/officeDocument/2006/relationships/extended-properties" Target="/docProps/app.xml" Id="R10fd022685c54435" /><Relationship Type="http://schemas.openxmlformats.org/officeDocument/2006/relationships/officeDocument" Target="/ppt/presentation.xml" Id="R9d1cd93b18ba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ef5a02b904e90"/>
  </p:sldMasterIdLst>
  <p:notesMasterIdLst>
    <p:notesMasterId xmlns:r="http://schemas.openxmlformats.org/officeDocument/2006/relationships" r:id="R998ac0437e27429d"/>
  </p:notesMasterIdLst>
  <p:sldIdLst>
    <p:sldId xmlns:r="http://schemas.openxmlformats.org/officeDocument/2006/relationships" id="256" r:id="R697b530f932e4111"/>
    <p:sldId xmlns:r="http://schemas.openxmlformats.org/officeDocument/2006/relationships" id="257" r:id="Rcaffe8d875314a76"/>
    <p:sldId xmlns:r="http://schemas.openxmlformats.org/officeDocument/2006/relationships" id="258" r:id="R522b0fce67504fef"/>
    <p:sldId xmlns:r="http://schemas.openxmlformats.org/officeDocument/2006/relationships" id="259" r:id="Rd7f4b8f2620c4f38"/>
    <p:sldId xmlns:r="http://schemas.openxmlformats.org/officeDocument/2006/relationships" id="260" r:id="R741d8836e2504ca9"/>
    <p:sldId xmlns:r="http://schemas.openxmlformats.org/officeDocument/2006/relationships" id="261" r:id="R99c2ffa6f41a4a95"/>
    <p:sldId xmlns:r="http://schemas.openxmlformats.org/officeDocument/2006/relationships" id="262" r:id="Re1be632960274c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176a52f7e0465b" /><Relationship Type="http://schemas.openxmlformats.org/officeDocument/2006/relationships/slideMaster" Target="/ppt/slideMasters/slideMaster1.xml" Id="Rc4def5a02b904e90" /><Relationship Type="http://schemas.openxmlformats.org/officeDocument/2006/relationships/notesMaster" Target="/ppt/notesMasters/notesMaster1.xml" Id="R998ac0437e27429d" /><Relationship Type="http://schemas.openxmlformats.org/officeDocument/2006/relationships/presProps" Target="/ppt/presProps.xml" Id="Radfcd41c281c460c" /><Relationship Type="http://schemas.openxmlformats.org/officeDocument/2006/relationships/tableStyles" Target="/ppt/tableStyles.xml" Id="Ra43c87870e2d452d" /><Relationship Type="http://schemas.openxmlformats.org/officeDocument/2006/relationships/slide" Target="/ppt/slides/slide1.xml" Id="R697b530f932e4111" /><Relationship Type="http://schemas.openxmlformats.org/officeDocument/2006/relationships/slide" Target="/ppt/slides/slide2.xml" Id="Rcaffe8d875314a76" /><Relationship Type="http://schemas.openxmlformats.org/officeDocument/2006/relationships/slide" Target="/ppt/slides/slide3.xml" Id="R522b0fce67504fef" /><Relationship Type="http://schemas.openxmlformats.org/officeDocument/2006/relationships/slide" Target="/ppt/slides/slide4.xml" Id="Rd7f4b8f2620c4f38" /><Relationship Type="http://schemas.openxmlformats.org/officeDocument/2006/relationships/slide" Target="/ppt/slides/slide5.xml" Id="R741d8836e2504ca9" /><Relationship Type="http://schemas.openxmlformats.org/officeDocument/2006/relationships/slide" Target="/ppt/slides/slide6.xml" Id="R99c2ffa6f41a4a95" /><Relationship Type="http://schemas.openxmlformats.org/officeDocument/2006/relationships/slide" Target="/ppt/slides/slide7.xml" Id="Re1be632960274c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acce4d170f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7a4b981ad4609" /><Relationship Type="http://schemas.openxmlformats.org/officeDocument/2006/relationships/notesMaster" Target="/ppt/notesMasters/notesMaster1.xml" Id="Rf5e6190bcb57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3e39191b814fc9" /><Relationship Type="http://schemas.openxmlformats.org/officeDocument/2006/relationships/notesMaster" Target="/ppt/notesMasters/notesMaster1.xml" Id="Rc0b5cb01431f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10ae6d4c2a4760" /><Relationship Type="http://schemas.openxmlformats.org/officeDocument/2006/relationships/notesMaster" Target="/ppt/notesMasters/notesMaster1.xml" Id="R704f3fc5f82442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f7f359c1584c38" /><Relationship Type="http://schemas.openxmlformats.org/officeDocument/2006/relationships/notesMaster" Target="/ppt/notesMasters/notesMaster1.xml" Id="R7e3d42d6066447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d8f9efad7449a" /><Relationship Type="http://schemas.openxmlformats.org/officeDocument/2006/relationships/notesMaster" Target="/ppt/notesMasters/notesMaster1.xml" Id="R9216d9f4b0b84b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2f91182a7642b9" /><Relationship Type="http://schemas.openxmlformats.org/officeDocument/2006/relationships/notesMaster" Target="/ppt/notesMasters/notesMaster1.xml" Id="Rbfcf7a106943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0e5a826c9480a" /><Relationship Type="http://schemas.openxmlformats.org/officeDocument/2006/relationships/notesMaster" Target="/ppt/notesMasters/notesMaster1.xml" Id="R75fe49b52d39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và phương pháp: METHODOLOGY.md trong dự án. Kết quả dùng dữ liệu kỳ 2025 và trạng thái bằng chứng đã duyệt tại ngày 05/10/2026.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scoring_rules.py và METHODOLOGY.md trong dự án. Khung chỉ số được nhóm điều chỉnh để áp dụng cho ngân hàng; các tiêu chí không được gán là bộ DBI chính thức.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METHODOLOGY.md, scoring_rules.py và data/evidence_data.csv. Thông tin hiện tại của Google Play không được dùng như dữ liệu trải nghiệm năm 2025. Candidate là đầu mối rà soát, không tham gia kết quả chính thức.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data/scoring_data.csv được tái tính từ scoring_rules.py và bằng chứng Approved trong data/evidence_data.csv. Kết quả: Agribank 72.25; Vietcombank 70.116667; OCB 67.666667. Ngưỡng xếp hạng là quy ước dự án. Tệp data/scoring_data.csv là nguồn số chính thức hiện tại.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data/scoring_data.csv. Các điểm trụ cột được tính bằng trung bình tiêu chí có dữ liệu trong từng trụ cột; không quy đổi N/D thành 0. Số liệu trên slide: Agribank 70/70/70/83.5/70/70; Vietcombank 70/70/70/80.7/70/60; OCB 70/70/63.333333/72.666667/70/60 theo thứ tự Khách hàng, Chiến lược, Công nghệ, Vận hành, Văn hóa,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data/scoring_data.csv. Khoảng cách 72.25 - 67.666667 = 4.583333 điểm. Data Coverage = 12/19 = 63.157895%. Điểm Dữ liệu và Vận hành lấy từ điểm trụ cột. Diễn giải giới hạn: chỉ 3/5 ngân hàng đủ dữ liệu; kết quả chịu ảnh hưởng của bằng chứng công khai và rubric nhóm.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FINAL_REPORT.md, METHODOLOGY.md, data/scoring_data.csv và data/evidence_data.csv. Độ nhạy trọng số là khuyến nghị phân tích tiếp theo; chưa được dùng để tính thứ hạng hiện tại.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3f713b80641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c456c13bf40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17be66d064d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8314b686744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4fe45089847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764aa070048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560884-3046-4CE8-939C-16130A576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0BE29F-FFD4-42C7-9E5F-05F5CDD5BD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4A96FE-1B35-4669-8365-40AF633FD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A585A-6986-46F4-AF5C-5058671D9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0C47B2-1083-43C8-AB26-2FC3B49427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32441B-A302-41D8-B805-93D621E5B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CD394D-57D7-4DDE-9F83-4B27207545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4302-5EEA-46CE-9F61-0975B7AFD1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C19F63-F125-4DAB-8F47-C7C75A08B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02FFC-5400-47C8-AD90-500B8CD4D1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4c82ab83314748" /><Relationship Type="http://schemas.openxmlformats.org/officeDocument/2006/relationships/slideLayout" Target="/ppt/slideLayouts/slideLayout1.xml" Id="R98a257b8f70445e9" /><Relationship Type="http://schemas.openxmlformats.org/officeDocument/2006/relationships/slideLayout" Target="/ppt/slideLayouts/slideLayout2.xml" Id="Rc46fa154bf024b08" /><Relationship Type="http://schemas.openxmlformats.org/officeDocument/2006/relationships/slideLayout" Target="/ppt/slideLayouts/slideLayout3.xml" Id="R1168f6a719874f8b" /><Relationship Type="http://schemas.openxmlformats.org/officeDocument/2006/relationships/slideLayout" Target="/ppt/slideLayouts/slideLayout4.xml" Id="Rcd7dc97f3fd64830" /><Relationship Type="http://schemas.openxmlformats.org/officeDocument/2006/relationships/slideLayout" Target="/ppt/slideLayouts/slideLayout5.xml" Id="R7e3fa992399449f6" /><Relationship Type="http://schemas.openxmlformats.org/officeDocument/2006/relationships/slideLayout" Target="/ppt/slideLayouts/slideLayout6.xml" Id="R310e0d22d9b0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257b8f70445e9"/>
    <p:sldLayoutId xmlns:r="http://schemas.openxmlformats.org/officeDocument/2006/relationships" id="2147483650" r:id="Rc46fa154bf024b08"/>
    <p:sldLayoutId xmlns:r="http://schemas.openxmlformats.org/officeDocument/2006/relationships" id="2147483651" r:id="R1168f6a719874f8b"/>
    <p:sldLayoutId xmlns:r="http://schemas.openxmlformats.org/officeDocument/2006/relationships" id="2147483652" r:id="Rcd7dc97f3fd64830"/>
    <p:sldLayoutId xmlns:r="http://schemas.openxmlformats.org/officeDocument/2006/relationships" id="2147483653" r:id="R7e3fa992399449f6"/>
    <p:sldLayoutId xmlns:r="http://schemas.openxmlformats.org/officeDocument/2006/relationships" id="2147483654" r:id="R310e0d22d9b0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c939e4ea549fb" /><Relationship Type="http://schemas.openxmlformats.org/officeDocument/2006/relationships/notesSlide" Target="/ppt/notesSlides/notesSlide1.xml" Id="R40830c462e06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860454d624842" /><Relationship Type="http://schemas.openxmlformats.org/officeDocument/2006/relationships/notesSlide" Target="/ppt/notesSlides/notesSlide2.xml" Id="Red1549b0b124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9887f42934030" /><Relationship Type="http://schemas.openxmlformats.org/officeDocument/2006/relationships/notesSlide" Target="/ppt/notesSlides/notesSlide3.xml" Id="Ra40b3c0297f3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3994644b64144" /><Relationship Type="http://schemas.openxmlformats.org/officeDocument/2006/relationships/chart" Target="/ppt/slides/charts/chart1.xml" Id="R6e17d9002eda409c" /><Relationship Type="http://schemas.openxmlformats.org/officeDocument/2006/relationships/notesSlide" Target="/ppt/notesSlides/notesSlide4.xml" Id="R3b84f499be0b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8590fa8244957" /><Relationship Type="http://schemas.openxmlformats.org/officeDocument/2006/relationships/chart" Target="/ppt/slides/charts/chart2.xml" Id="R95f05fefec4c4283" /><Relationship Type="http://schemas.openxmlformats.org/officeDocument/2006/relationships/notesSlide" Target="/ppt/notesSlides/notesSlide5.xml" Id="R0b7770f01cce4c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02d8013e8472e" /><Relationship Type="http://schemas.openxmlformats.org/officeDocument/2006/relationships/notesSlide" Target="/ppt/notesSlides/notesSlide6.xml" Id="R1442732a6496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17860b189429a" /><Relationship Type="http://schemas.openxmlformats.org/officeDocument/2006/relationships/notesSlide" Target="/ppt/notesSlides/notesSlide7.xml" Id="Rae7f0f19953946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DTI</c:v>
          </c:tx>
          <c:spPr>
            <a:solidFill xmlns:a="http://schemas.openxmlformats.org/drawingml/2006/main">
              <a:srgbClr val="087E83"/>
            </a:solidFill>
          </c:spPr>
          <c:cat>
            <c:strRef>
              <c:f>'Chart Data'!$A$2:$A$4</c:f>
              <c:strCache>
                <c:ptCount val="3"/>
                <c:pt idx="0">
                  <c:v>Agribank</c:v>
                </c:pt>
                <c:pt idx="1">
                  <c:v>Vietcombank</c:v>
                </c:pt>
                <c:pt idx="2">
                  <c:v>OCB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72.25</c:v>
                </c:pt>
                <c:pt idx="1">
                  <c:v>70.116667</c:v>
                </c:pt>
                <c:pt idx="2">
                  <c:v>67.666667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B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Agribank</c:v>
          </c:tx>
          <c:spPr>
            <a:solidFill xmlns:a="http://schemas.openxmlformats.org/drawingml/2006/main">
              <a:srgbClr val="087E83"/>
            </a:solidFill>
          </c:spPr>
          <c:cat>
            <c:strRef>
              <c:f>'Chart Data'!$A$2:$A$7</c:f>
              <c:strCache>
                <c:ptCount val="6"/>
                <c:pt idx="0">
                  <c:v>Khách hàng</c:v>
                </c:pt>
                <c:pt idx="1">
                  <c:v>Chiến lược</c:v>
                </c:pt>
                <c:pt idx="2">
                  <c:v>Công nghệ</c:v>
                </c:pt>
                <c:pt idx="3">
                  <c:v>Vận hành</c:v>
                </c:pt>
                <c:pt idx="4">
                  <c:v>Văn hóa</c:v>
                </c:pt>
                <c:pt idx="5">
                  <c:v>Dữ liệu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83.5</c:v>
                </c:pt>
                <c:pt idx="4">
                  <c:v>70</c:v>
                </c:pt>
                <c:pt idx="5">
                  <c:v>70</c:v>
                </c:pt>
              </c:numCache>
            </c:numRef>
          </c:val>
        </c:ser>
        <c:ser>
          <c:idx val="1"/>
          <c:order val="1"/>
          <c:tx>
            <c:v>Vietcombank</c:v>
          </c:tx>
          <c:spPr>
            <a:solidFill xmlns:a="http://schemas.openxmlformats.org/drawingml/2006/main">
              <a:srgbClr val="183D5B"/>
            </a:solidFill>
          </c:spPr>
          <c:cat>
            <c:strRef>
              <c:f>'Chart Data'!$C$2:$C$7</c:f>
              <c:strCache>
                <c:ptCount val="6"/>
                <c:pt idx="0">
                  <c:v>Khách hàng</c:v>
                </c:pt>
                <c:pt idx="1">
                  <c:v>Chiến lược</c:v>
                </c:pt>
                <c:pt idx="2">
                  <c:v>Công nghệ</c:v>
                </c:pt>
                <c:pt idx="3">
                  <c:v>Vận hành</c:v>
                </c:pt>
                <c:pt idx="4">
                  <c:v>Văn hóa</c:v>
                </c:pt>
                <c:pt idx="5">
                  <c:v>Dữ liệu</c:v>
                </c:pt>
              </c:strCache>
            </c:strRef>
          </c:cat>
          <c:val>
            <c:numRef>
              <c:f>'Chart Data'!$D$2:$D$7</c:f>
              <c:numCache>
                <c:formatCode>0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80.7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ser>
          <c:idx val="2"/>
          <c:order val="2"/>
          <c:tx>
            <c:v>OCB</c:v>
          </c:tx>
          <c:spPr>
            <a:solidFill xmlns:a="http://schemas.openxmlformats.org/drawingml/2006/main">
              <a:srgbClr val="D6A947"/>
            </a:solidFill>
          </c:spPr>
          <c:cat>
            <c:strRef>
              <c:f>'Chart Data'!$E$2:$E$7</c:f>
              <c:strCache>
                <c:ptCount val="6"/>
                <c:pt idx="0">
                  <c:v>Khách hàng</c:v>
                </c:pt>
                <c:pt idx="1">
                  <c:v>Chiến lược</c:v>
                </c:pt>
                <c:pt idx="2">
                  <c:v>Công nghệ</c:v>
                </c:pt>
                <c:pt idx="3">
                  <c:v>Vận hành</c:v>
                </c:pt>
                <c:pt idx="4">
                  <c:v>Văn hóa</c:v>
                </c:pt>
                <c:pt idx="5">
                  <c:v>Dữ liệu</c:v>
                </c:pt>
              </c:strCache>
            </c:strRef>
          </c:cat>
          <c:val>
            <c:numRef>
              <c:f>'Chart Data'!$F$2:$F$7</c:f>
              <c:numCache>
                <c:formatCode>0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63.333333</c:v>
                </c:pt>
                <c:pt idx="3">
                  <c:v>72.666667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C2D3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5A58D-5D15-4614-8894-E601004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95BD1-9787-4F42-8E3B-D213D18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914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XẾP HẠNG MỨC ĐỘ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CHUYỂN ĐỔI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74C19-DA27-4C5A-B607-432A60B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6D7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6D7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6D7E2"/>
                </a:solidFill>
                <a:latin typeface="Arial"/>
                <a:ea typeface="Arial"/>
                <a:cs typeface="Arial"/>
              </a:rPr>
              <a:t>5 ngân hàng Việt Nam  |  Kỳ đánh giá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0CA11-9232-4118-A45B-C397D66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0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65C30-03F9-4C9E-8ABA-D0D087C3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 tiêu chí  ·  6 trụ cột  ·  Bằng chứng công khai được rà soát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C48FB-5531-4730-B5D0-FB3CE16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817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3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3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3D0"/>
                </a:solidFill>
                <a:latin typeface="Arial"/>
                <a:ea typeface="Arial"/>
                <a:cs typeface="Arial"/>
              </a:rPr>
              <a:t>Bộ chỉ số thích nghi do nhóm xây dựng; không phải điểm DBI chính thức</a:t>
            </a:r>
          </a:p>
        </p:txBody>
      </p:sp>
    </p:spTree>
    <p:extLst>
      <p:ext uri="{BB962C8B-B14F-4D97-AF65-F5344CB8AC3E}">
        <p14:creationId xmlns:p14="http://schemas.microsoft.com/office/powerpoint/2010/main" val="1875385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D3E874-EB17-4023-A9E6-9329D37F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77EBD-3E2F-4EBF-8EAE-B2B318B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Một khung đánh giá gồm 19 tiêu chí và 6 trụ cột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77B01-75C7-4F8B-A83F-FBDBC71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64FA-874C-4313-9C94-B238F0DD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215A2-1CFF-40B3-B9D6-A01D9D0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00532-8366-4C22-80AA-240D348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337A9-9D2C-42B1-9207-E8FE7BA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5284A-CD51-40EF-A42B-04B0A667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5520A-9D72-43AA-8545-2D3F542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C1–C3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C4969-9E0C-43FB-BDEB-3E3808F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Bao phủ · sử dụng · trải nghiệm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255E3-8F61-4DC8-BD5D-8397E833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F9AD3-1733-4E5B-B1EE-E3EEA06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AF264-8B8B-475C-B5DB-A00503F9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57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34590-89A6-4BBE-8EF0-A566B0D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Chiến lược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40D34-8146-4FF6-829F-07085ED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S1–S3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C3A44-357F-4D76-B5E1-DDE17851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47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Lộ trình · đầu tư · đối tác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52A91-AE26-47DB-8D9E-9EB2BCE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206A3-53F8-479B-AEF8-EA84D6B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C6F3E-ED75-4BFE-9C35-310A137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AA5AB-BABB-4C0C-9D4A-8212491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C0780-079E-47CB-B368-E19A72A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T1–T4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889E0-E31B-403E-A9A4-DD30CC1D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47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eKYC · cho vay số · AI ·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2DAA2-861D-483D-97F8-8035E95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07223-4CC8-4008-A184-76B81D0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EE1C0-D192-4E54-B588-75F1D33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36450-B293-42B5-9E54-323C159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D9D3E-0786-442B-B026-F1108E6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O1–O3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1DAF2-14C5-4DCA-9910-28F471A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Giao dịch số · quy trình · dịch vụ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B42A9-19FF-4C44-AC06-335F03A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31C31-B94B-4B01-8F32-F5D49A1B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C2439-BE39-45E4-AD6F-4576ECB2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E70FE-CC7B-4944-AFDD-A1E5517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Văn hóa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3D96DB-CE6E-4E76-9877-91CBC22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57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H1–H3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7A1929-2D2A-40DD-A0D4-5812937B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815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Năng lực · đổi mới · thay đổi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564C6-ABC8-4E8F-86FF-099D02A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71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919C1F-4089-43B6-8711-2C5BDCA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0A2EB-DF8E-4F7E-B6B2-721ED90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219A53-777D-4C48-9AA9-75427F80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06CBA9-81DA-44F1-9BEC-85E84B84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D1–D3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D4B99-F4DF-45AF-8084-10A3855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815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Tích hợp · quản trị · phân tích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9E437B-D231-457B-87BA-7126B11A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Mỗi trụ cột có trọng số bằng nhau trong điểm DTI tổng</a:t>
            </a:r>
          </a:p>
        </p:txBody>
      </p:sp>
    </p:spTree>
    <p:extLst>
      <p:ext uri="{BB962C8B-B14F-4D97-AF65-F5344CB8AC3E}">
        <p14:creationId xmlns:p14="http://schemas.microsoft.com/office/powerpoint/2010/main" val="1644363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AA001-A995-44B3-8915-09F02BB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D4DC2-7BDC-4D1B-A381-C8232B7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Chỉ bằng chứng đúng kỳ, truy vết được mới được tính điểm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C500F-2464-493F-B5D9-96BA3FC4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EA3C1-19E8-49EB-9301-8D925C78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F953-CE9C-4F50-9534-E12624D9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A67A-E15C-4013-AAA5-3D32B46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4686-F600-4310-A6F9-BF975910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Thu thập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52EC3-1DF5-4492-AD94-1A044A5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Báo cáo thường niên, báo cáo bền vững và nguồn chính thức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7FDAD-B57A-4E1E-BE8D-D70D0F97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64"/>
          </a:bodyPr>
          <a:lstStyle xmlns:a="http://schemas.openxmlformats.org/drawingml/2006/main">
            <a:def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6A94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8EF35-7870-434B-B6F2-46BEBB0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43D01-1EE9-4305-8A85-BC0BEBA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96DF9-14E0-48E9-8160-DEECBE1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Đối chiếu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0A719-2825-4D3A-8655-A6D8810A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Nội dung · kỳ 2025 · URL hoặc số trang · phạm vi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AE1DF-3407-4572-8553-0EF5CE52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64"/>
          </a:bodyPr>
          <a:lstStyle xmlns:a="http://schemas.openxmlformats.org/drawingml/2006/main">
            <a:def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6A94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A2F09-7D08-4EF7-B75A-4FD3F5AC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19912-26A3-46E9-8568-D10B2ABC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B536A-D6EE-4006-B3BA-0548F472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Duyệt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8AF30-8F63-41CA-A75D-D51D3443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Chỉ bản ghi Approved được đưa vào điểm chính thức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E9D7B-79EB-417C-904B-2B3D29E6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64"/>
          </a:bodyPr>
          <a:lstStyle xmlns:a="http://schemas.openxmlformats.org/drawingml/2006/main">
            <a:def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6A94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41130-BDC7-48FF-9E97-17099F47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1BFF1-69D9-46DC-BDE3-CD6A565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F366D-51EB-4705-9277-1416CDE1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Tính điểm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C741A-768A-4462-A176-948E80E4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Rubric định tính hoặc tỷ lệ có đủ tử số/mẫu số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D594D-8DC5-42F6-94B9-78DD728B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66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E4E3F-2DE5-4B31-8308-1EFF368F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N/D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C4541-F123-4537-92AF-894A9C36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862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Thiếu đủ căn cứ công khai để chấm — không có nghĩa ngân hàng không triển khai.</a:t>
            </a:r>
          </a:p>
          <a:p xmlns:a="http://schemas.openxmlformats.org/drawingml/2006/main">
            <a:pPr algn="l">
              <a:defRPr sz="142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C2/O1 giữ N/D nếu nguồn không cho biết rõ phạm vi, tử số và mẫu số.</a:t>
            </a:r>
          </a:p>
        </p:txBody>
      </p:sp>
    </p:spTree>
    <p:extLst>
      <p:ext uri="{BB962C8B-B14F-4D97-AF65-F5344CB8AC3E}">
        <p14:creationId xmlns:p14="http://schemas.microsoft.com/office/powerpoint/2010/main" val="1081623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F1B6E-4642-4B11-BE0D-9C5E0E3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D1D44-12AB-4FAE-8FCD-9D54133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Ba ngân hàng đủ dữ liệu để xếp hạng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60D51-260E-4055-B9F7-F6111F2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A3E43-577E-4BAC-AAC9-E80784C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45319-42BC-4AA6-9876-D3A7459B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858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Điểm DTI tổng (thang 0–100)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49F2C9C-DAEC-4009-BACB-6E2812496E60}"/>
              </a:ext>
            </a:extLst>
          </p:cNvPr>
          <p:cNvGraphicFramePr/>
          <p:nvPr/>
        </p:nvGraphicFramePr>
        <p:xfrm>
          <a:off xmlns:a="http://schemas.openxmlformats.org/drawingml/2006/main" x="590550" y="158115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17d9002eda409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5D05B-4B0D-43E6-9443-5D1ED58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00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Chưa đủ điều kiện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B4EAE-7EB7-4745-B631-FB8DD86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EA309-8CB0-4652-A9F8-78EAB62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VPBank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1EA0C-486A-4E01-80F5-A6B8746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10/19 tiêu chí  ·  5/6 trụ cột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F6501-02E3-4D32-970F-5E692445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2D3C"/>
                </a:solidFill>
                <a:latin typeface="Arial"/>
                <a:ea typeface="Arial"/>
                <a:cs typeface="Arial"/>
              </a:rPr>
              <a:t>ACB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A9530-FA4F-4532-B0C0-769ABAAB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7/19 tiêu chí  ·  4/6 trụ cột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B60E3-74C1-4BFA-AE64-3926289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844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844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443C"/>
                </a:solidFill>
                <a:latin typeface="Arial"/>
                <a:ea typeface="Arial"/>
                <a:cs typeface="Arial"/>
              </a:rPr>
              <a:t>Ngưỡng: ≥12 tiêu chí, đủ 6 trụ cột và DTI tính được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14F33-98D3-4C87-BF30-C4D06B0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Ba ngân hàng đủ điều kiện đều có 12/19 tiêu chí (63,2%).</a:t>
            </a:r>
          </a:p>
        </p:txBody>
      </p:sp>
    </p:spTree>
    <p:extLst>
      <p:ext uri="{BB962C8B-B14F-4D97-AF65-F5344CB8AC3E}">
        <p14:creationId xmlns:p14="http://schemas.microsoft.com/office/powerpoint/2010/main" val="1095221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553D8-12AC-4652-B918-C1F965D8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D4A2B-D25E-4883-BB78-38E92A74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Vận hành là trụ cột tạo khác biệt rõ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86B36-FECF-454E-962B-B7BAB06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62A81-EC81-494C-AC17-331233A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7CBD-949D-41DC-BDF2-28984A8C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Điểm trụ cột của ba ngân hàng đủ điều kiện (0–100)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55151B1-476C-46BB-8EE5-38497D7F098C}"/>
              </a:ext>
            </a:extLst>
          </p:cNvPr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04900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f05fefec4c428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AE018-4455-4043-9E34-EE6ACE4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Vận hành: 83,5 Agribank  ·  80,7 Vietcombank  ·  72,7 OCB</a:t>
            </a:r>
          </a:p>
        </p:txBody>
      </p:sp>
    </p:spTree>
    <p:extLst>
      <p:ext uri="{BB962C8B-B14F-4D97-AF65-F5344CB8AC3E}">
        <p14:creationId xmlns:p14="http://schemas.microsoft.com/office/powerpoint/2010/main" val="1462518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95632-ADF1-4C0D-A462-D8ED3F3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07B57-C251-48B5-8E46-979296D2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Khoảng cách điểm nhỏ; cần đọc cùng độ bao phủ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93407-27D6-4A85-9C0B-BB847BC7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09962-C907-4603-98F1-5AC4DA57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2980A-F170-46A4-84F6-06940767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D6A9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6A947"/>
                </a:solidFill>
                <a:latin typeface="Arial"/>
                <a:ea typeface="Arial"/>
                <a:cs typeface="Arial"/>
              </a:rPr>
              <a:t>4,58 điểm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077FC-6F16-4268-9A35-80B9A279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954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là khoảng cách giữa ngân hàng đứng đầu và thứ ba trong nhóm đủ điều kiện.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5B70B-58D3-4639-ACBE-7008ADD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BB1F5-BEC0-42EF-881F-93497FF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83,5 điểm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39490-FD62-4A54-A17D-7DA20AC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527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là điểm Vận hành của Agribank, cao nhất trong ba ngân hàng được xếp hạng.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51140-6BA3-4C60-BFCE-C44211A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2707B-C858-47D1-BC0A-36FCB393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60 điểm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ACCBB-56E7-4426-BD79-06F5795F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là điểm Dữ liệu của Vietcombank và OCB; trụ cột này còn khoảng trống cải thiện.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3199A-19AB-427E-A093-D205C9F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A2DA1-4DD4-45E3-A6FD-253DF455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1B8C9-6982-4ADE-97BA-8396643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Data Coverage 63,2% cho cả ba ngân hàng xếp hạng; điểm chưa phải kết luận về toàn bộ thị trường.</a:t>
            </a:r>
          </a:p>
        </p:txBody>
      </p:sp>
    </p:spTree>
    <p:extLst>
      <p:ext uri="{BB962C8B-B14F-4D97-AF65-F5344CB8AC3E}">
        <p14:creationId xmlns:p14="http://schemas.microsoft.com/office/powerpoint/2010/main" val="71606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46E0B-766D-45B2-A034-FB1799D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C1E77-D511-4429-ACAB-97E1C3D7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Giới hạn và ưu tiên trước khi nộp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F355F-0BEB-488A-9B96-36A85E2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9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ED7AE-0C57-4BC3-9056-68C2BAC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008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ĐÁNH GIÁ KỲ 2025  •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36495-337E-46DC-AB0C-2B40A91B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B1FAA-5D5B-479A-9D45-EA1DE04A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43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Mở rộng bằng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C73FC-D50C-4B53-BECE-9238203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Ưu tiên các tiêu chí còn thiếu ở VPBank và ACB; chỉ bổ sung khi nguồn đúng kỳ và đủ phạm vi.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B177B-34EA-4F60-804B-E99F9F11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F292F-E17B-47B3-8809-09EEA21D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Rà soát chấm định tính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367D5-2C17-4511-A4B2-6C36A51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Đối chiếu rubric 0/30/50/70/100 giữa thành viên; giữ nguồn và lý do cho từng điểm.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737B6-2451-4C2F-9EB2-82D0C3C6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E6750-E45E-4CE3-A374-3E8184AD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Kiểm tra độ nhạy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BFCEB-D288-488A-B30A-3FBB95D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Thử thay đổi trọng số trụ cột để xem thứ hạng có đổi; báo cáo đây là phân tích bổ sung, không thay điểm chính.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E20FE-BB44-45F2-8741-FD0258B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C5379-1BE9-49EF-891B-2928080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76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Cần nói rõ khi trình bày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37F37-3385-45CB-997F-8792AE5E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0980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• Chỉ 3/5 ngân hàng đủ ngưỡng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• N/D không phải điểm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• Bộ chỉ số là bản thích nghi của nhóm, không phải DBI chính thức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C2D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D3C"/>
                </a:solidFill>
                <a:latin typeface="Arial"/>
                <a:ea typeface="Arial"/>
                <a:cs typeface="Arial"/>
              </a:rPr>
              <a:t>• Kỳ dữ liệu 2025; một số báo cáo công bố năm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E750D-6089-4DF1-AC1C-447EC147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Kết quả đã được đối chiếu lại công thức và điều kiện xếp hạng.</a:t>
            </a:r>
          </a:p>
        </p:txBody>
      </p:sp>
    </p:spTree>
    <p:extLst>
      <p:ext uri="{BB962C8B-B14F-4D97-AF65-F5344CB8AC3E}">
        <p14:creationId xmlns:p14="http://schemas.microsoft.com/office/powerpoint/2010/main" val="36522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2026-10-05T16:52:02.1130000Z</dcterms:created>
  <dcterms:modified xsi:type="dcterms:W3CDTF">2026-10-05T16:52:02.1130000Z</dcterms:modified>
</coreProperties>
</file>